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embeddedFontLst>
    <p:embeddedFont>
      <p:font typeface="Century Gothic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hudghzIPMf+qj4ntzeU76SVLk5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CenturyGothic-regular.fntdata"/><Relationship Id="rId14" Type="http://schemas.openxmlformats.org/officeDocument/2006/relationships/slide" Target="slides/slide10.xml"/><Relationship Id="rId17" Type="http://schemas.openxmlformats.org/officeDocument/2006/relationships/font" Target="fonts/CenturyGothic-italic.fntdata"/><Relationship Id="rId16" Type="http://schemas.openxmlformats.org/officeDocument/2006/relationships/font" Target="fonts/CenturyGothic-bold.fntdata"/><Relationship Id="rId5" Type="http://schemas.openxmlformats.org/officeDocument/2006/relationships/slide" Target="slides/slide1.xml"/><Relationship Id="rId19" Type="http://customschemas.google.com/relationships/presentationmetadata" Target="metadata"/><Relationship Id="rId6" Type="http://schemas.openxmlformats.org/officeDocument/2006/relationships/slide" Target="slides/slide2.xml"/><Relationship Id="rId18" Type="http://schemas.openxmlformats.org/officeDocument/2006/relationships/font" Target="fonts/CenturyGothic-bold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53" name="Google Shape;25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59" name="Google Shape;25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65" name="Google Shape;26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71" name="Google Shape;27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1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4" name="Google Shape;24;p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13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26" name="Google Shape;26;p13"/>
          <p:cNvSpPr txBox="1"/>
          <p:nvPr>
            <p:ph type="ctrTitle"/>
          </p:nvPr>
        </p:nvSpPr>
        <p:spPr>
          <a:xfrm>
            <a:off x="1154955" y="2099733"/>
            <a:ext cx="8825658" cy="2677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400"/>
              <a:buFont typeface="Century Gothic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" type="subTitle"/>
          </p:nvPr>
        </p:nvSpPr>
        <p:spPr>
          <a:xfrm>
            <a:off x="1154955" y="4777380"/>
            <a:ext cx="8825658" cy="86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1000"/>
              </a:spcBef>
              <a:spcAft>
                <a:spcPts val="0"/>
              </a:spcAft>
              <a:buSzPts val="1440"/>
              <a:buNone/>
              <a:defRPr cap="none">
                <a:solidFill>
                  <a:srgbClr val="EE52A4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13"/>
          <p:cNvSpPr txBox="1"/>
          <p:nvPr>
            <p:ph idx="10" type="dt"/>
          </p:nvPr>
        </p:nvSpPr>
        <p:spPr>
          <a:xfrm rot="5400000">
            <a:off x="10158984" y="1792224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1" type="ftr"/>
          </p:nvPr>
        </p:nvSpPr>
        <p:spPr>
          <a:xfrm rot="5400000">
            <a:off x="8951976" y="3227832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4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4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0" name="Google Shape;40;p1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15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15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15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15"/>
            <p:cNvSpPr/>
            <p:nvPr/>
          </p:nvSpPr>
          <p:spPr>
            <a:xfrm rot="-5400000">
              <a:off x="3787244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48" name="Google Shape;48;p15"/>
            <p:cNvSpPr/>
            <p:nvPr/>
          </p:nvSpPr>
          <p:spPr>
            <a:xfrm rot="-5677511">
              <a:off x="4698352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15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50" name="Google Shape;50;p15"/>
          <p:cNvSpPr txBox="1"/>
          <p:nvPr>
            <p:ph type="title"/>
          </p:nvPr>
        </p:nvSpPr>
        <p:spPr>
          <a:xfrm>
            <a:off x="1154954" y="2677645"/>
            <a:ext cx="4351025" cy="2283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" type="body"/>
          </p:nvPr>
        </p:nvSpPr>
        <p:spPr>
          <a:xfrm>
            <a:off x="6895559" y="2677644"/>
            <a:ext cx="3757545" cy="2283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15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6"/>
          <p:cNvSpPr txBox="1"/>
          <p:nvPr>
            <p:ph idx="1" type="body"/>
          </p:nvPr>
        </p:nvSpPr>
        <p:spPr>
          <a:xfrm>
            <a:off x="1154954" y="2603500"/>
            <a:ext cx="4825158" cy="3416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2" type="body"/>
          </p:nvPr>
        </p:nvSpPr>
        <p:spPr>
          <a:xfrm>
            <a:off x="6208712" y="2603500"/>
            <a:ext cx="48251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1154954" y="2603500"/>
            <a:ext cx="4825157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6" name="Google Shape;66;p17"/>
          <p:cNvSpPr txBox="1"/>
          <p:nvPr>
            <p:ph idx="2" type="body"/>
          </p:nvPr>
        </p:nvSpPr>
        <p:spPr>
          <a:xfrm>
            <a:off x="1154954" y="3179762"/>
            <a:ext cx="4825158" cy="284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3" type="body"/>
          </p:nvPr>
        </p:nvSpPr>
        <p:spPr>
          <a:xfrm>
            <a:off x="6208712" y="2603500"/>
            <a:ext cx="482515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8" name="Google Shape;68;p17"/>
          <p:cNvSpPr txBox="1"/>
          <p:nvPr>
            <p:ph idx="4" type="body"/>
          </p:nvPr>
        </p:nvSpPr>
        <p:spPr>
          <a:xfrm>
            <a:off x="6208712" y="3179762"/>
            <a:ext cx="4825159" cy="284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20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84" name="Google Shape;84;p2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20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20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20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20"/>
            <p:cNvSpPr/>
            <p:nvPr/>
          </p:nvSpPr>
          <p:spPr>
            <a:xfrm rot="-5677511">
              <a:off x="3140485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20"/>
            <p:cNvSpPr/>
            <p:nvPr/>
          </p:nvSpPr>
          <p:spPr>
            <a:xfrm rot="-5400000">
              <a:off x="2229377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93" name="Google Shape;93;p20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94" name="Google Shape;94;p20"/>
          <p:cNvSpPr txBox="1"/>
          <p:nvPr>
            <p:ph type="title"/>
          </p:nvPr>
        </p:nvSpPr>
        <p:spPr>
          <a:xfrm>
            <a:off x="1154955" y="1295400"/>
            <a:ext cx="279315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" type="body"/>
          </p:nvPr>
        </p:nvSpPr>
        <p:spPr>
          <a:xfrm>
            <a:off x="5781146" y="1447800"/>
            <a:ext cx="5190066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2" type="body"/>
          </p:nvPr>
        </p:nvSpPr>
        <p:spPr>
          <a:xfrm>
            <a:off x="1154954" y="3129280"/>
            <a:ext cx="2793158" cy="2895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3" name="Google Shape;103;p2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21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1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21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1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21"/>
            <p:cNvSpPr/>
            <p:nvPr/>
          </p:nvSpPr>
          <p:spPr>
            <a:xfrm rot="-5677511">
              <a:off x="4203594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1"/>
            <p:cNvSpPr/>
            <p:nvPr/>
          </p:nvSpPr>
          <p:spPr>
            <a:xfrm rot="-5400000">
              <a:off x="3295432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12" name="Google Shape;112;p21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13" name="Google Shape;113;p21"/>
          <p:cNvSpPr txBox="1"/>
          <p:nvPr>
            <p:ph type="title"/>
          </p:nvPr>
        </p:nvSpPr>
        <p:spPr>
          <a:xfrm>
            <a:off x="1154955" y="1693333"/>
            <a:ext cx="3865134" cy="17356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1"/>
          <p:cNvSpPr/>
          <p:nvPr>
            <p:ph idx="2" type="pic"/>
          </p:nvPr>
        </p:nvSpPr>
        <p:spPr>
          <a:xfrm>
            <a:off x="6547870" y="1143000"/>
            <a:ext cx="3227193" cy="4572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1154954" y="3657600"/>
            <a:ext cx="3859212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16" name="Google Shape;116;p21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2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2" name="Google Shape;122;p2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2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2"/>
            <p:cNvSpPr/>
            <p:nvPr/>
          </p:nvSpPr>
          <p:spPr>
            <a:xfrm rot="10371525">
              <a:off x="263767" y="4438254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22"/>
            <p:cNvSpPr/>
            <p:nvPr/>
          </p:nvSpPr>
          <p:spPr>
            <a:xfrm rot="10800000">
              <a:off x="459506" y="321130"/>
              <a:ext cx="11277600" cy="4533900"/>
            </a:xfrm>
            <a:custGeom>
              <a:rect b="b" l="l" r="r" t="t"/>
              <a:pathLst>
                <a:path extrusionOk="0" h="2856" w="7104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30" name="Google Shape;130;p22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31" name="Google Shape;131;p22"/>
          <p:cNvSpPr txBox="1"/>
          <p:nvPr>
            <p:ph type="title"/>
          </p:nvPr>
        </p:nvSpPr>
        <p:spPr>
          <a:xfrm>
            <a:off x="1154954" y="4969927"/>
            <a:ext cx="8825659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2"/>
          <p:cNvSpPr/>
          <p:nvPr>
            <p:ph idx="2" type="pic"/>
          </p:nvPr>
        </p:nvSpPr>
        <p:spPr>
          <a:xfrm>
            <a:off x="1154954" y="685800"/>
            <a:ext cx="8825659" cy="3429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1154954" y="5536665"/>
            <a:ext cx="8825658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34" name="Google Shape;134;p22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2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2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 showMasterSp="0">
  <p:cSld name="Title and Caption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2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0" name="Google Shape;140;p2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3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3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3"/>
            <p:cNvSpPr/>
            <p:nvPr/>
          </p:nvSpPr>
          <p:spPr>
            <a:xfrm rot="-589932">
              <a:off x="8490951" y="2714874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455612" y="2801319"/>
              <a:ext cx="11277600" cy="3602637"/>
            </a:xfrm>
            <a:custGeom>
              <a:rect b="b" l="l" r="r" t="t"/>
              <a:pathLst>
                <a:path extrusionOk="0" h="7946" w="10000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48" name="Google Shape;148;p23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49" name="Google Shape;149;p23"/>
          <p:cNvSpPr txBox="1"/>
          <p:nvPr>
            <p:ph type="title"/>
          </p:nvPr>
        </p:nvSpPr>
        <p:spPr>
          <a:xfrm>
            <a:off x="1148798" y="1063417"/>
            <a:ext cx="8831816" cy="13729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1154954" y="3543300"/>
            <a:ext cx="8825659" cy="247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51" name="Google Shape;151;p23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3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 showMasterSp="0">
  <p:cSld name="Quote with Ca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2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7" name="Google Shape;157;p2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4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4"/>
            <p:cNvSpPr/>
            <p:nvPr/>
          </p:nvSpPr>
          <p:spPr>
            <a:xfrm rot="-589932">
              <a:off x="8490951" y="418511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4"/>
            <p:cNvSpPr/>
            <p:nvPr/>
          </p:nvSpPr>
          <p:spPr>
            <a:xfrm>
              <a:off x="455612" y="4241801"/>
              <a:ext cx="11277600" cy="2337161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65" name="Google Shape;165;p24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66" name="Google Shape;166;p24"/>
          <p:cNvSpPr txBox="1"/>
          <p:nvPr/>
        </p:nvSpPr>
        <p:spPr>
          <a:xfrm>
            <a:off x="881566" y="607336"/>
            <a:ext cx="801912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00" u="none" cap="none" strike="noStrike">
                <a:solidFill>
                  <a:srgbClr val="EE52A4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67" name="Google Shape;167;p24"/>
          <p:cNvSpPr txBox="1"/>
          <p:nvPr/>
        </p:nvSpPr>
        <p:spPr>
          <a:xfrm>
            <a:off x="9884458" y="2613787"/>
            <a:ext cx="652763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00" u="none" cap="none" strike="noStrike">
                <a:solidFill>
                  <a:srgbClr val="EE52A4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1581878" y="982134"/>
            <a:ext cx="8453906" cy="2696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1945945" y="3678766"/>
            <a:ext cx="7731219" cy="342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b="0" i="0" sz="1400" cap="small">
                <a:solidFill>
                  <a:srgbClr val="EE52A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70" name="Google Shape;170;p24"/>
          <p:cNvSpPr txBox="1"/>
          <p:nvPr>
            <p:ph idx="2" type="body"/>
          </p:nvPr>
        </p:nvSpPr>
        <p:spPr>
          <a:xfrm>
            <a:off x="1154954" y="5029199"/>
            <a:ext cx="9244897" cy="99785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 showMasterSp="0">
  <p:cSld name="Name Card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oogle Shape;176;p2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7" name="Google Shape;177;p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5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5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5"/>
            <p:cNvSpPr/>
            <p:nvPr/>
          </p:nvSpPr>
          <p:spPr>
            <a:xfrm rot="-589932">
              <a:off x="8490951" y="4193583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5"/>
            <p:cNvSpPr/>
            <p:nvPr/>
          </p:nvSpPr>
          <p:spPr>
            <a:xfrm>
              <a:off x="455612" y="4241801"/>
              <a:ext cx="11277600" cy="2337161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85" name="Google Shape;185;p25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86" name="Google Shape;186;p25"/>
          <p:cNvSpPr txBox="1"/>
          <p:nvPr>
            <p:ph type="title"/>
          </p:nvPr>
        </p:nvSpPr>
        <p:spPr>
          <a:xfrm>
            <a:off x="1154954" y="2370667"/>
            <a:ext cx="8825660" cy="18225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5"/>
          <p:cNvSpPr txBox="1"/>
          <p:nvPr>
            <p:ph idx="1" type="body"/>
          </p:nvPr>
        </p:nvSpPr>
        <p:spPr>
          <a:xfrm>
            <a:off x="1154954" y="5024967"/>
            <a:ext cx="8825659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8" name="Google Shape;188;p25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2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">
  <p:cSld name="3 Column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26"/>
          <p:cNvSpPr txBox="1"/>
          <p:nvPr>
            <p:ph idx="1" type="body"/>
          </p:nvPr>
        </p:nvSpPr>
        <p:spPr>
          <a:xfrm>
            <a:off x="1154954" y="2603502"/>
            <a:ext cx="314187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5" name="Google Shape;195;p26"/>
          <p:cNvSpPr txBox="1"/>
          <p:nvPr>
            <p:ph idx="2" type="body"/>
          </p:nvPr>
        </p:nvSpPr>
        <p:spPr>
          <a:xfrm>
            <a:off x="1154953" y="3179764"/>
            <a:ext cx="3141879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96" name="Google Shape;196;p26"/>
          <p:cNvSpPr txBox="1"/>
          <p:nvPr>
            <p:ph idx="3" type="body"/>
          </p:nvPr>
        </p:nvSpPr>
        <p:spPr>
          <a:xfrm>
            <a:off x="4512721" y="2603500"/>
            <a:ext cx="314700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7" name="Google Shape;197;p26"/>
          <p:cNvSpPr txBox="1"/>
          <p:nvPr>
            <p:ph idx="4" type="body"/>
          </p:nvPr>
        </p:nvSpPr>
        <p:spPr>
          <a:xfrm>
            <a:off x="4512721" y="3179763"/>
            <a:ext cx="3147009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98" name="Google Shape;198;p26"/>
          <p:cNvSpPr txBox="1"/>
          <p:nvPr>
            <p:ph idx="5" type="body"/>
          </p:nvPr>
        </p:nvSpPr>
        <p:spPr>
          <a:xfrm>
            <a:off x="7888135" y="2603501"/>
            <a:ext cx="314573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9" name="Google Shape;199;p26"/>
          <p:cNvSpPr txBox="1"/>
          <p:nvPr>
            <p:ph idx="6" type="body"/>
          </p:nvPr>
        </p:nvSpPr>
        <p:spPr>
          <a:xfrm>
            <a:off x="7888329" y="3179762"/>
            <a:ext cx="3145536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200" name="Google Shape;200;p26"/>
          <p:cNvCxnSpPr/>
          <p:nvPr/>
        </p:nvCxnSpPr>
        <p:spPr>
          <a:xfrm>
            <a:off x="440397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777240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26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6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2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icture Column">
  <p:cSld name="3 Picture Column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7"/>
          <p:cNvSpPr txBox="1"/>
          <p:nvPr>
            <p:ph idx="1" type="body"/>
          </p:nvPr>
        </p:nvSpPr>
        <p:spPr>
          <a:xfrm>
            <a:off x="1154954" y="4532844"/>
            <a:ext cx="305043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08" name="Google Shape;208;p27"/>
          <p:cNvSpPr/>
          <p:nvPr>
            <p:ph idx="2" type="pic"/>
          </p:nvPr>
        </p:nvSpPr>
        <p:spPr>
          <a:xfrm>
            <a:off x="1334553" y="2603500"/>
            <a:ext cx="2691242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1154954" y="5109106"/>
            <a:ext cx="3050438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210" name="Google Shape;210;p27"/>
          <p:cNvSpPr txBox="1"/>
          <p:nvPr>
            <p:ph idx="4" type="body"/>
          </p:nvPr>
        </p:nvSpPr>
        <p:spPr>
          <a:xfrm>
            <a:off x="4568865" y="4532844"/>
            <a:ext cx="3050438" cy="5762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11" name="Google Shape;211;p27"/>
          <p:cNvSpPr/>
          <p:nvPr>
            <p:ph idx="5" type="pic"/>
          </p:nvPr>
        </p:nvSpPr>
        <p:spPr>
          <a:xfrm>
            <a:off x="4748462" y="2603500"/>
            <a:ext cx="2691243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12" name="Google Shape;212;p27"/>
          <p:cNvSpPr txBox="1"/>
          <p:nvPr>
            <p:ph idx="6" type="body"/>
          </p:nvPr>
        </p:nvSpPr>
        <p:spPr>
          <a:xfrm>
            <a:off x="4570172" y="5109105"/>
            <a:ext cx="3050438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213" name="Google Shape;213;p27"/>
          <p:cNvSpPr txBox="1"/>
          <p:nvPr>
            <p:ph idx="7" type="body"/>
          </p:nvPr>
        </p:nvSpPr>
        <p:spPr>
          <a:xfrm>
            <a:off x="7982775" y="4532845"/>
            <a:ext cx="305109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14" name="Google Shape;214;p27"/>
          <p:cNvSpPr/>
          <p:nvPr>
            <p:ph idx="8" type="pic"/>
          </p:nvPr>
        </p:nvSpPr>
        <p:spPr>
          <a:xfrm>
            <a:off x="8163031" y="2603500"/>
            <a:ext cx="2691242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15" name="Google Shape;215;p27"/>
          <p:cNvSpPr txBox="1"/>
          <p:nvPr>
            <p:ph idx="9" type="body"/>
          </p:nvPr>
        </p:nvSpPr>
        <p:spPr>
          <a:xfrm>
            <a:off x="7982775" y="5109104"/>
            <a:ext cx="3051096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216" name="Google Shape;216;p27"/>
          <p:cNvCxnSpPr/>
          <p:nvPr/>
        </p:nvCxnSpPr>
        <p:spPr>
          <a:xfrm>
            <a:off x="440583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7" name="Google Shape;217;p27"/>
          <p:cNvCxnSpPr/>
          <p:nvPr/>
        </p:nvCxnSpPr>
        <p:spPr>
          <a:xfrm>
            <a:off x="7797802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8" name="Google Shape;218;p27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7"/>
          <p:cNvSpPr txBox="1"/>
          <p:nvPr>
            <p:ph idx="11" type="ftr"/>
          </p:nvPr>
        </p:nvSpPr>
        <p:spPr>
          <a:xfrm>
            <a:off x="561111" y="6391838"/>
            <a:ext cx="3644282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2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8"/>
          <p:cNvSpPr txBox="1"/>
          <p:nvPr>
            <p:ph idx="1" type="body"/>
          </p:nvPr>
        </p:nvSpPr>
        <p:spPr>
          <a:xfrm rot="5400000">
            <a:off x="3859634" y="-101179"/>
            <a:ext cx="3416300" cy="88256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24" name="Google Shape;224;p28"/>
          <p:cNvSpPr txBox="1"/>
          <p:nvPr>
            <p:ph idx="10" type="dt"/>
          </p:nvPr>
        </p:nvSpPr>
        <p:spPr>
          <a:xfrm>
            <a:off x="10695439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8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29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29" name="Google Shape;229;p2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2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9"/>
            <p:cNvSpPr/>
            <p:nvPr/>
          </p:nvSpPr>
          <p:spPr>
            <a:xfrm rot="5101749">
              <a:off x="6294738" y="457773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9"/>
            <p:cNvSpPr/>
            <p:nvPr/>
          </p:nvSpPr>
          <p:spPr>
            <a:xfrm rot="5400000">
              <a:off x="4449232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238" name="Google Shape;238;p29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239" name="Google Shape;239;p29"/>
          <p:cNvSpPr txBox="1"/>
          <p:nvPr>
            <p:ph type="title"/>
          </p:nvPr>
        </p:nvSpPr>
        <p:spPr>
          <a:xfrm rot="5400000">
            <a:off x="6915923" y="2947780"/>
            <a:ext cx="4748590" cy="14099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29"/>
          <p:cNvSpPr txBox="1"/>
          <p:nvPr>
            <p:ph idx="1" type="body"/>
          </p:nvPr>
        </p:nvSpPr>
        <p:spPr>
          <a:xfrm rot="5400000">
            <a:off x="1908672" y="524749"/>
            <a:ext cx="4748590" cy="6256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41" name="Google Shape;241;p29"/>
          <p:cNvSpPr txBox="1"/>
          <p:nvPr>
            <p:ph idx="10" type="dt"/>
          </p:nvPr>
        </p:nvSpPr>
        <p:spPr>
          <a:xfrm>
            <a:off x="10653104" y="6391838"/>
            <a:ext cx="992135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29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2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theme" Target="../theme/theme1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Google Shape;7;p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1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" name="Google Shape;8;p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" name="Google Shape;9;p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" name="Google Shape;10;p1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" name="Google Shape;11;p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12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12"/>
            <p:cNvSpPr/>
            <p:nvPr/>
          </p:nvSpPr>
          <p:spPr>
            <a:xfrm rot="-589932">
              <a:off x="8490951" y="179751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12"/>
            <p:cNvSpPr/>
            <p:nvPr/>
          </p:nvSpPr>
          <p:spPr>
            <a:xfrm>
              <a:off x="459506" y="1866405"/>
              <a:ext cx="11277600" cy="4533900"/>
            </a:xfrm>
            <a:custGeom>
              <a:rect b="b" l="l" r="r" t="t"/>
              <a:pathLst>
                <a:path extrusionOk="0" h="2856" w="7104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5" name="Google Shape;15;p12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6" name="Google Shape;16;p12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i="0" sz="3600" u="none" cap="none" strike="noStrik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7" name="Google Shape;17;p12"/>
          <p:cNvSpPr txBox="1"/>
          <p:nvPr>
            <p:ph idx="1" type="body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09880" lvl="1" marL="914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99719" lvl="2" marL="1371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9560" lvl="3" marL="1828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9560" lvl="4" marL="22860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89560" lvl="5" marL="2743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89560" lvl="6" marL="3200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89559" lvl="7" marL="3657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89559" lvl="8" marL="4114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20" name="Google Shape;20;p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"/>
          <p:cNvSpPr txBox="1"/>
          <p:nvPr>
            <p:ph type="ctrTitle"/>
          </p:nvPr>
        </p:nvSpPr>
        <p:spPr>
          <a:xfrm>
            <a:off x="1154955" y="2099733"/>
            <a:ext cx="8825658" cy="2677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400"/>
              <a:buFont typeface="Century Gothic"/>
              <a:buNone/>
            </a:pPr>
            <a:r>
              <a:rPr lang="en-US"/>
              <a:t>COSC 213 Final Project:</a:t>
            </a:r>
            <a:br>
              <a:rPr lang="en-US"/>
            </a:br>
            <a:r>
              <a:rPr lang="en-US"/>
              <a:t>Online Booking System</a:t>
            </a:r>
            <a:endParaRPr/>
          </a:p>
        </p:txBody>
      </p:sp>
      <p:sp>
        <p:nvSpPr>
          <p:cNvPr id="250" name="Google Shape;250;p1"/>
          <p:cNvSpPr txBox="1"/>
          <p:nvPr>
            <p:ph idx="1" type="subTitle"/>
          </p:nvPr>
        </p:nvSpPr>
        <p:spPr>
          <a:xfrm>
            <a:off x="1154955" y="4777379"/>
            <a:ext cx="8825658" cy="12184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/>
              <a:t>RYLAN BRENNAN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CONNOR WHITE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SAMUEL HOLMES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Agenda</a:t>
            </a:r>
            <a:endParaRPr/>
          </a:p>
        </p:txBody>
      </p:sp>
      <p:sp>
        <p:nvSpPr>
          <p:cNvPr id="256" name="Google Shape;256;p2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1. Project Overview &amp; Core Requirements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2. System Architecture &amp; Features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3. User Experience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4. Admin Management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5. Implementation of Advanced Features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6. Q&amp;A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Project Overview</a:t>
            </a:r>
            <a:endParaRPr/>
          </a:p>
        </p:txBody>
      </p:sp>
      <p:sp>
        <p:nvSpPr>
          <p:cNvPr id="262" name="Google Shape;262;p3"/>
          <p:cNvSpPr txBox="1"/>
          <p:nvPr>
            <p:ph idx="1" type="body"/>
          </p:nvPr>
        </p:nvSpPr>
        <p:spPr>
          <a:xfrm>
            <a:off x="1154950" y="2603500"/>
            <a:ext cx="8825700" cy="38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Manual booking is time consuming and prone to error, our product provides automated online booking for easy scheduling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Target Clients: </a:t>
            </a:r>
            <a:r>
              <a:rPr lang="en-US"/>
              <a:t>Hotels, party venues, private gyms, etc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Target Users: </a:t>
            </a:r>
            <a:r>
              <a:rPr lang="en-US"/>
              <a:t>Staff, Administrators, Customers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Value Proposition: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24/7 booking availability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Reduced administrative workload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Minimizes Scheduling conflicts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Improved customer experience</a:t>
            </a:r>
            <a:endParaRPr/>
          </a:p>
          <a:p>
            <a:pPr indent="-295910" lvl="1" marL="74295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Only Requirement: Change header on site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Core Features – Public Facing</a:t>
            </a:r>
            <a:endParaRPr/>
          </a:p>
        </p:txBody>
      </p:sp>
      <p:sp>
        <p:nvSpPr>
          <p:cNvPr id="268" name="Google Shape;268;p4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Service Listing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Public webpage with descriptions, pricing, etc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Clear availability indicators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Calendar Interface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Weekly Grid that displays available and booked timeslots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Booking Form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Users select service, date, and time and provide information(name, email) to make a booking</a:t>
            </a:r>
            <a:endParaRPr/>
          </a:p>
          <a:p>
            <a:pPr indent="-251459" lvl="0" marL="34290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5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Core Features - Admin</a:t>
            </a:r>
            <a:endParaRPr/>
          </a:p>
        </p:txBody>
      </p:sp>
      <p:sp>
        <p:nvSpPr>
          <p:cNvPr id="274" name="Google Shape;274;p5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Admin Panel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Password-protected dashboard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Calendar views of bookings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Approve/Cancel functionality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Availability Logic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Prevent double-booking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System Architecture Overview</a:t>
            </a:r>
            <a:endParaRPr/>
          </a:p>
        </p:txBody>
      </p:sp>
      <p:sp>
        <p:nvSpPr>
          <p:cNvPr id="280" name="Google Shape;280;p6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Frontend: </a:t>
            </a:r>
            <a:r>
              <a:rPr lang="en-US"/>
              <a:t>Responsive Web Interface (HTML)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Backend: </a:t>
            </a:r>
            <a:r>
              <a:rPr lang="en-US"/>
              <a:t>Server-Side Framework (PHP)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Database: </a:t>
            </a:r>
            <a:r>
              <a:rPr lang="en-US"/>
              <a:t>Relational Database (MySQL)</a:t>
            </a:r>
            <a:endParaRPr/>
          </a:p>
        </p:txBody>
      </p:sp>
      <p:pic>
        <p:nvPicPr>
          <p:cNvPr descr="A long thin line on a white background&#10;&#10;AI-generated content may be incorrect." id="281" name="Google Shape;2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1060" y="4311650"/>
            <a:ext cx="8649199" cy="1887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User Experience: Booking Process</a:t>
            </a:r>
            <a:endParaRPr/>
          </a:p>
        </p:txBody>
      </p:sp>
      <p:sp>
        <p:nvSpPr>
          <p:cNvPr id="287" name="Google Shape;287;p7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1. Browse services on public page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2. Select desired service and view availability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3</a:t>
            </a:r>
            <a:r>
              <a:rPr lang="en-US"/>
              <a:t>. Create user account for future bookings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4. Choose preferred date and time from calendar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5. Complete booking and provide personal details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8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Admin Experience – Management Capabilities </a:t>
            </a:r>
            <a:endParaRPr/>
          </a:p>
        </p:txBody>
      </p:sp>
      <p:sp>
        <p:nvSpPr>
          <p:cNvPr id="293" name="Google Shape;293;p8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Admin Dashboard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Prevention of Double Bookings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Ability to view and cancel every booking.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0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Advanced Features: User-Managed Cancellations</a:t>
            </a:r>
            <a:endParaRPr/>
          </a:p>
        </p:txBody>
      </p:sp>
      <p:sp>
        <p:nvSpPr>
          <p:cNvPr id="299" name="Google Shape;299;p10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Allows users that are logged in to cancel bookings up to a certain time (24 hours) before the appointment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Users must create an account to access this feature, as well as create a booking in the first place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1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Q &amp; A</a:t>
            </a:r>
            <a:endParaRPr/>
          </a:p>
        </p:txBody>
      </p:sp>
      <p:sp>
        <p:nvSpPr>
          <p:cNvPr id="305" name="Google Shape;305;p11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1459" lvl="0" marL="342900" rtl="0" algn="l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on Boardroom">
  <a:themeElements>
    <a:clrScheme name="Ion Boardroom">
      <a:dk1>
        <a:srgbClr val="000000"/>
      </a:dk1>
      <a:lt1>
        <a:srgbClr val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2025-12-05T15:55:40Z</dcterms:created>
  <dc:creator>Samuel Holmes</dc:creator>
</cp:coreProperties>
</file>